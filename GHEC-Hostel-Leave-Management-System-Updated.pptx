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17"/>
    </p:embeddedFont>
    <p:embeddedFont>
      <p:font typeface="Gelasio"/>
      <p:regular r:id="rId18"/>
    </p:embeddedFont>
    <p:embeddedFont>
      <p:font typeface="Gelasio"/>
      <p:regular r:id="rId19"/>
    </p:embeddedFont>
    <p:embeddedFont>
      <p:font typeface="Gelasio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0901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GHEC Hostel Leave Management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007593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Digitizing and Streamlining Student Leaves &amp; Approvals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8610" y="442764"/>
            <a:ext cx="4815780" cy="80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Problem with Paper-Based Leave Systems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3878610" y="1420267"/>
            <a:ext cx="4815780" cy="732830"/>
          </a:xfrm>
          <a:prstGeom prst="roundRect">
            <a:avLst>
              <a:gd name="adj" fmla="val 2630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4007048" y="1548705"/>
            <a:ext cx="1605930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🗂️</a:t>
            </a:r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Lost Applications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07048" y="1828726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forms misplaced or destroyed, leaving students with no recourse.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878610" y="2269480"/>
            <a:ext cx="4815780" cy="732830"/>
          </a:xfrm>
          <a:prstGeom prst="roundRect">
            <a:avLst>
              <a:gd name="adj" fmla="val 2630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4007048" y="2397919"/>
            <a:ext cx="1605930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⏳</a:t>
            </a:r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Slow Approvals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07048" y="2677939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Multi-step manual sign-offs cause delays of days for time-sensitive requests.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78610" y="3118693"/>
            <a:ext cx="4815780" cy="732830"/>
          </a:xfrm>
          <a:prstGeom prst="roundRect">
            <a:avLst>
              <a:gd name="adj" fmla="val 2630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4007048" y="3247132"/>
            <a:ext cx="1605930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🔍</a:t>
            </a:r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Zero Transparency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07048" y="3527152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Students have no visibility into where their application stands at any moment.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78610" y="3967907"/>
            <a:ext cx="4815780" cy="732830"/>
          </a:xfrm>
          <a:prstGeom prst="roundRect">
            <a:avLst>
              <a:gd name="adj" fmla="val 2630"/>
            </a:avLst>
          </a:prstGeom>
          <a:solidFill>
            <a:srgbClr val="373433"/>
          </a:solidFill>
          <a:ln/>
        </p:spPr>
      </p:sp>
      <p:sp>
        <p:nvSpPr>
          <p:cNvPr id="14" name="Text 11"/>
          <p:cNvSpPr/>
          <p:nvPr/>
        </p:nvSpPr>
        <p:spPr>
          <a:xfrm>
            <a:off x="4007048" y="4096345"/>
            <a:ext cx="1780580" cy="210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📵</a:t>
            </a:r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Communication Gaps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07048" y="4376365"/>
            <a:ext cx="45589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Parents are never notified, creating safety concerns and uninformed guardians.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2760"/>
            <a:ext cx="692184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Solution: A Fully Digital Leave Platform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7926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GHEC's Hostel Leave Management System automates the entire leave lifecycle — from application to gate pass — eliminating paperwork and replacing it with a transparent, efficient, and secure digital workflow.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92362"/>
            <a:ext cx="283518" cy="283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Paperless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75957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Every application, approval, and record stored digitally.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992362"/>
            <a:ext cx="283518" cy="283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0553" y="2453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Instant Alerts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660553" y="2759571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notifications keep students and parents informed in real time.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496717"/>
            <a:ext cx="283518" cy="283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3957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 Transparency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119" y="4263926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Live status tracking from submission through final decision.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496717"/>
            <a:ext cx="283518" cy="283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60553" y="39574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Records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660553" y="4263926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Protected data with role-based access and audit trails.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2658070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Multi-Tier User Roles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3364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Five distinct roles ensure the right people have the right access at every stage of the approval process.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06392" y="1680344"/>
            <a:ext cx="172938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692104" y="1680344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8" name="Text 4"/>
          <p:cNvSpPr/>
          <p:nvPr/>
        </p:nvSpPr>
        <p:spPr>
          <a:xfrm>
            <a:off x="4869805" y="180089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869805" y="2046684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Apply, track status, and generate gate passes.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515472" y="1680344"/>
            <a:ext cx="172938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01185" y="1680344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12" name="Text 8"/>
          <p:cNvSpPr/>
          <p:nvPr/>
        </p:nvSpPr>
        <p:spPr>
          <a:xfrm>
            <a:off x="6678885" y="180089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Caretaker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678885" y="2046684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First-level verification of leave requests.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706392" y="2544589"/>
            <a:ext cx="172938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92104" y="2544589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16" name="Text 12"/>
          <p:cNvSpPr/>
          <p:nvPr/>
        </p:nvSpPr>
        <p:spPr>
          <a:xfrm>
            <a:off x="4869805" y="266514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Warden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69805" y="2910929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Second-level review and approval authority.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6515472" y="2544589"/>
            <a:ext cx="172938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01185" y="2544589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20" name="Text 16"/>
          <p:cNvSpPr/>
          <p:nvPr/>
        </p:nvSpPr>
        <p:spPr>
          <a:xfrm>
            <a:off x="6678885" y="266514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Chief Warden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678885" y="2910929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Final approval, bulk actions, and rebate oversight.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4706392" y="3408834"/>
            <a:ext cx="1729383" cy="784547"/>
          </a:xfrm>
          <a:prstGeom prst="roundRect">
            <a:avLst>
              <a:gd name="adj" fmla="val 8741"/>
            </a:avLst>
          </a:prstGeom>
          <a:solidFill>
            <a:srgbClr val="464342"/>
          </a:solidFill>
          <a:ln w="14288">
            <a:solidFill>
              <a:srgbClr val="504D4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92104" y="3408834"/>
            <a:ext cx="57150" cy="784547"/>
          </a:xfrm>
          <a:prstGeom prst="roundRect">
            <a:avLst>
              <a:gd name="adj" fmla="val 27907"/>
            </a:avLst>
          </a:prstGeom>
          <a:solidFill>
            <a:srgbClr val="C49F8C"/>
          </a:solidFill>
          <a:ln/>
        </p:spPr>
      </p:sp>
      <p:sp>
        <p:nvSpPr>
          <p:cNvPr id="24" name="Text 20"/>
          <p:cNvSpPr/>
          <p:nvPr/>
        </p:nvSpPr>
        <p:spPr>
          <a:xfrm>
            <a:off x="4869805" y="352938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Director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869805" y="3775174"/>
            <a:ext cx="144541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High-level reporting and institutional oversight.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60562"/>
            <a:ext cx="415163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&amp; Workflows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87066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Leave Application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Simple, guided forms for Day Out, Night Out, and Home leave types — submitted in minutes.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887066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Digital Gate Passes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Auto-generated passes sent to students upon approval — scannable by security at the gate.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887066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9959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Profile Management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30242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student profiles with warden-controlled lockdown — profile edits require formal approval.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4833"/>
            <a:ext cx="5177582" cy="293392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24339" y="817215"/>
            <a:ext cx="1819424" cy="266402"/>
          </a:xfrm>
          <a:prstGeom prst="roundRect">
            <a:avLst>
              <a:gd name="adj" fmla="val 6386"/>
            </a:avLst>
          </a:prstGeom>
          <a:solidFill>
            <a:srgbClr val="33221A"/>
          </a:solidFill>
          <a:ln/>
        </p:spPr>
      </p:sp>
      <p:sp>
        <p:nvSpPr>
          <p:cNvPr id="4" name="Text 1"/>
          <p:cNvSpPr/>
          <p:nvPr/>
        </p:nvSpPr>
        <p:spPr>
          <a:xfrm>
            <a:off x="6109395" y="859706"/>
            <a:ext cx="16493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NOTIFICATIONS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024339" y="1140321"/>
            <a:ext cx="2628230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Keeping Everyone in the Loop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024339" y="2611041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At every step — submission, approval, or rejection — the system dispatches beautifully branded </a:t>
            </a:r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 email notifications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automatically.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944764"/>
            <a:ext cx="212601" cy="2126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6816" y="393769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 receives real-time status updates instantly.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564" y="3944764"/>
            <a:ext cx="212601" cy="2126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33130" y="3937695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Parents are notified simultaneously for every leave decision.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01879" y="3944764"/>
            <a:ext cx="212601" cy="2126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9445" y="3937695"/>
            <a:ext cx="213843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manual follow-up required from hostel staff.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575221"/>
            <a:ext cx="1648048" cy="248543"/>
          </a:xfrm>
          <a:prstGeom prst="roundRect">
            <a:avLst>
              <a:gd name="adj" fmla="val 6310"/>
            </a:avLst>
          </a:prstGeom>
          <a:noFill/>
          <a:ln w="4763">
            <a:solidFill>
              <a:srgbClr val="C49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0469" y="619125"/>
            <a:ext cx="148180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C49F8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MESS REBATE INTEGRATION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871910"/>
            <a:ext cx="2673028" cy="1225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Fee Savings for Students on Leave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57349" y="2217539"/>
            <a:ext cx="2673028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When a student is approved for a long-duration leave, the system </a:t>
            </a:r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automatically flags their eligibility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 mess fee rebate — no manual request needed.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349" y="3129335"/>
            <a:ext cx="2673028" cy="153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Rebate requests auto-generated on leave approval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Chief Warden reviews and approves in one click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Reduces administrative overhead significantly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Creates a clear, auditable rebate record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3929" y="1087785"/>
            <a:ext cx="5237411" cy="2967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871" y="393576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Administrative Dashboard &amp; Analytics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41871" y="1351285"/>
            <a:ext cx="4831259" cy="717575"/>
          </a:xfrm>
          <a:prstGeom prst="roundRect">
            <a:avLst>
              <a:gd name="adj" fmla="val 2639"/>
            </a:avLst>
          </a:prstGeom>
          <a:solidFill>
            <a:srgbClr val="373433"/>
          </a:solidFill>
          <a:ln/>
        </p:spPr>
      </p:sp>
      <p:sp>
        <p:nvSpPr>
          <p:cNvPr id="5" name="Text 2"/>
          <p:cNvSpPr/>
          <p:nvPr/>
        </p:nvSpPr>
        <p:spPr>
          <a:xfrm>
            <a:off x="568077" y="1477491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⚡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Bulk Actions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8077" y="1751707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Approve or reject multiple leave requests simultaneously to cut processing time.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41871" y="2181299"/>
            <a:ext cx="4831259" cy="717575"/>
          </a:xfrm>
          <a:prstGeom prst="roundRect">
            <a:avLst>
              <a:gd name="adj" fmla="val 2639"/>
            </a:avLst>
          </a:prstGeom>
          <a:solidFill>
            <a:srgbClr val="373433"/>
          </a:solidFill>
          <a:ln/>
        </p:spPr>
      </p:sp>
      <p:sp>
        <p:nvSpPr>
          <p:cNvPr id="8" name="Text 5"/>
          <p:cNvSpPr/>
          <p:nvPr/>
        </p:nvSpPr>
        <p:spPr>
          <a:xfrm>
            <a:off x="568077" y="2307506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🔎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Search &amp; Filter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077" y="2581721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Instantly locate any student's leave record by date, type, status, or room number.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1871" y="3011314"/>
            <a:ext cx="4831259" cy="717575"/>
          </a:xfrm>
          <a:prstGeom prst="roundRect">
            <a:avLst>
              <a:gd name="adj" fmla="val 2639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568077" y="3137520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📊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Live Tracking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8077" y="3411736"/>
            <a:ext cx="457884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dashboard view of all active, pending, and completed leaves.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1871" y="3841328"/>
            <a:ext cx="4831259" cy="908521"/>
          </a:xfrm>
          <a:prstGeom prst="roundRect">
            <a:avLst>
              <a:gd name="adj" fmla="val 2085"/>
            </a:avLst>
          </a:prstGeom>
          <a:solidFill>
            <a:srgbClr val="373433"/>
          </a:solidFill>
          <a:ln/>
        </p:spPr>
      </p:sp>
      <p:sp>
        <p:nvSpPr>
          <p:cNvPr id="14" name="Text 11"/>
          <p:cNvSpPr/>
          <p:nvPr/>
        </p:nvSpPr>
        <p:spPr>
          <a:xfrm>
            <a:off x="568077" y="3967535"/>
            <a:ext cx="1578248" cy="206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📁</a:t>
            </a:r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Export Reports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8077" y="4241750"/>
            <a:ext cx="457884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Download complete leave records as Excel or CSV for audits and institutional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82724"/>
            <a:ext cx="34887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88379" y="1193527"/>
            <a:ext cx="81672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with lightweight, proven technologies — ensuring reliability, low overhead, and easy deployment in institutional environments.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8379" y="1569467"/>
            <a:ext cx="4014936" cy="1476970"/>
          </a:xfrm>
          <a:prstGeom prst="roundRect">
            <a:avLst>
              <a:gd name="adj" fmla="val 1417"/>
            </a:avLst>
          </a:prstGeom>
          <a:solidFill>
            <a:srgbClr val="464342"/>
          </a:solidFill>
          <a:ln w="19050">
            <a:solidFill>
              <a:srgbClr val="504D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7429" y="1588517"/>
            <a:ext cx="3976836" cy="418654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91147" y="1693143"/>
            <a:ext cx="209327" cy="2093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6956" y="214453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6956" y="2444948"/>
            <a:ext cx="36977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HTML, Vanilla CSS &amp; JavaScript with full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Dark / Light mode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support.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40684" y="1569467"/>
            <a:ext cx="4014936" cy="1476970"/>
          </a:xfrm>
          <a:prstGeom prst="roundRect">
            <a:avLst>
              <a:gd name="adj" fmla="val 1417"/>
            </a:avLst>
          </a:prstGeom>
          <a:solidFill>
            <a:srgbClr val="464342"/>
          </a:solidFill>
          <a:ln w="19050">
            <a:solidFill>
              <a:srgbClr val="504D4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59734" y="1588517"/>
            <a:ext cx="3976836" cy="418654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3452" y="1693143"/>
            <a:ext cx="209327" cy="2093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9261" y="2144539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799261" y="2444948"/>
            <a:ext cx="36977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Custom-built </a:t>
            </a:r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Python HTTP Server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— no heavy frameworks, full control.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8379" y="3183806"/>
            <a:ext cx="4014936" cy="1476970"/>
          </a:xfrm>
          <a:prstGeom prst="roundRect">
            <a:avLst>
              <a:gd name="adj" fmla="val 1417"/>
            </a:avLst>
          </a:prstGeom>
          <a:solidFill>
            <a:srgbClr val="464342"/>
          </a:solidFill>
          <a:ln w="19050">
            <a:solidFill>
              <a:srgbClr val="504D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429" y="3202856"/>
            <a:ext cx="3976836" cy="418654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91147" y="3307482"/>
            <a:ext cx="209327" cy="2093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6956" y="375887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6956" y="4059287"/>
            <a:ext cx="36977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SQLite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lightweight, portable, and reliable structured data management.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40684" y="3183806"/>
            <a:ext cx="4014936" cy="1476970"/>
          </a:xfrm>
          <a:prstGeom prst="roundRect">
            <a:avLst>
              <a:gd name="adj" fmla="val 1417"/>
            </a:avLst>
          </a:prstGeom>
          <a:solidFill>
            <a:srgbClr val="464342"/>
          </a:solidFill>
          <a:ln w="19050">
            <a:solidFill>
              <a:srgbClr val="504D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59734" y="3202856"/>
            <a:ext cx="3976836" cy="418654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3452" y="3307482"/>
            <a:ext cx="209327" cy="2093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99261" y="375887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Email Integration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799261" y="4059287"/>
            <a:ext cx="369778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SMTP protocol</a:t>
            </a:r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powers automated, branded HTML email delivery at every workflow step.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421853"/>
            <a:ext cx="4645744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Impact Summary &amp; Future Scope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9745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We've Delivered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41871" y="1421234"/>
            <a:ext cx="1931789" cy="1626171"/>
          </a:xfrm>
          <a:prstGeom prst="roundRect">
            <a:avLst>
              <a:gd name="adj" fmla="val 1165"/>
            </a:avLst>
          </a:prstGeom>
          <a:solidFill>
            <a:srgbClr val="373433"/>
          </a:solidFill>
          <a:ln/>
        </p:spPr>
      </p:sp>
      <p:sp>
        <p:nvSpPr>
          <p:cNvPr id="5" name="Shape 3"/>
          <p:cNvSpPr/>
          <p:nvPr/>
        </p:nvSpPr>
        <p:spPr>
          <a:xfrm>
            <a:off x="568077" y="1547440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C49F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257" y="1651546"/>
            <a:ext cx="170408" cy="1704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8077" y="203864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Increased Efficiency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8077" y="2348359"/>
            <a:ext cx="167937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Leave cycles that took days now complete in hours.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86099" y="1421234"/>
            <a:ext cx="1931863" cy="1626171"/>
          </a:xfrm>
          <a:prstGeom prst="roundRect">
            <a:avLst>
              <a:gd name="adj" fmla="val 1165"/>
            </a:avLst>
          </a:prstGeom>
          <a:solidFill>
            <a:srgbClr val="373433"/>
          </a:solidFill>
          <a:ln/>
        </p:spPr>
      </p:sp>
      <p:sp>
        <p:nvSpPr>
          <p:cNvPr id="10" name="Shape 7"/>
          <p:cNvSpPr/>
          <p:nvPr/>
        </p:nvSpPr>
        <p:spPr>
          <a:xfrm>
            <a:off x="2612306" y="1547440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C49F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16485" y="1651546"/>
            <a:ext cx="170408" cy="1704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12306" y="203864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Security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612306" y="2348359"/>
            <a:ext cx="1679451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Digital gate passes and audit trails eliminate unauthorized exits.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41871" y="3159844"/>
            <a:ext cx="3976092" cy="1435224"/>
          </a:xfrm>
          <a:prstGeom prst="roundRect">
            <a:avLst>
              <a:gd name="adj" fmla="val 1320"/>
            </a:avLst>
          </a:prstGeom>
          <a:solidFill>
            <a:srgbClr val="373433"/>
          </a:solidFill>
          <a:ln/>
        </p:spPr>
      </p:sp>
      <p:sp>
        <p:nvSpPr>
          <p:cNvPr id="15" name="Shape 11"/>
          <p:cNvSpPr/>
          <p:nvPr/>
        </p:nvSpPr>
        <p:spPr>
          <a:xfrm>
            <a:off x="568077" y="3286051"/>
            <a:ext cx="378768" cy="378768"/>
          </a:xfrm>
          <a:prstGeom prst="roundRect">
            <a:avLst>
              <a:gd name="adj" fmla="val 15086883"/>
            </a:avLst>
          </a:prstGeom>
          <a:solidFill>
            <a:srgbClr val="C49F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257" y="3390156"/>
            <a:ext cx="170408" cy="1704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8077" y="3777258"/>
            <a:ext cx="162684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Parent Communication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68077" y="4086969"/>
            <a:ext cx="372368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alerts keep families informed and reassured at every step.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39866" y="985019"/>
            <a:ext cx="4157960" cy="3736553"/>
          </a:xfrm>
          <a:prstGeom prst="roundRect">
            <a:avLst>
              <a:gd name="adj" fmla="val 507"/>
            </a:avLst>
          </a:prstGeom>
          <a:solidFill>
            <a:srgbClr val="C49F8C"/>
          </a:solidFill>
          <a:ln/>
        </p:spPr>
      </p:sp>
      <p:sp>
        <p:nvSpPr>
          <p:cNvPr id="20" name="Text 15"/>
          <p:cNvSpPr/>
          <p:nvPr/>
        </p:nvSpPr>
        <p:spPr>
          <a:xfrm>
            <a:off x="4766072" y="109745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66072" y="1421234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66072" y="1621482"/>
            <a:ext cx="3905548" cy="14288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23" name="Text 18"/>
          <p:cNvSpPr/>
          <p:nvPr/>
        </p:nvSpPr>
        <p:spPr>
          <a:xfrm>
            <a:off x="4766072" y="1713161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66072" y="2022872"/>
            <a:ext cx="39055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Native iOS &amp; Android apps for on-the-go leave management.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766072" y="2420913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66072" y="2621161"/>
            <a:ext cx="3905548" cy="14288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27" name="Text 22"/>
          <p:cNvSpPr/>
          <p:nvPr/>
        </p:nvSpPr>
        <p:spPr>
          <a:xfrm>
            <a:off x="4766072" y="2712839"/>
            <a:ext cx="173310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Biometric Gate Scanning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766072" y="3022550"/>
            <a:ext cx="390554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Fingerprint or face recognition integrated with gate pass verification.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766072" y="3420591"/>
            <a:ext cx="252487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766072" y="3620839"/>
            <a:ext cx="3905548" cy="14288"/>
          </a:xfrm>
          <a:prstGeom prst="rect">
            <a:avLst/>
          </a:prstGeom>
          <a:solidFill>
            <a:srgbClr val="C49F8C"/>
          </a:solidFill>
          <a:ln/>
        </p:spPr>
      </p:sp>
      <p:sp>
        <p:nvSpPr>
          <p:cNvPr id="31" name="Text 26"/>
          <p:cNvSpPr/>
          <p:nvPr/>
        </p:nvSpPr>
        <p:spPr>
          <a:xfrm>
            <a:off x="4766072" y="3712518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4766072" y="4022229"/>
            <a:ext cx="3905548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Predictive dashboards for leave trends and hostel occupancy planning.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2026-05-15T09:49:30Z</dcterms:created>
  <dcterms:modified xsi:type="dcterms:W3CDTF">2026-05-15T09:49:30Z</dcterms:modified>
</cp:coreProperties>
</file>